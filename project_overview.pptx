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2769C-F35B-40BE-B157-DB2869437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C7D94B-CED9-412A-8D01-8125579E6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438BB-0460-42BC-9B7C-01BA93BF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6FB98-3EA6-4456-93A9-4FEAEEE29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BC55C-6F23-4B71-B50D-AE85FAC0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1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84430-CB09-44FB-A1E0-490F5412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8FE4E-BCD9-4048-BA89-92993E5CE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607B1-E271-4539-8AA0-E635D664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27A39-5BD8-4F4A-B8FB-AA6829D1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5FA3D-5FA4-4C4B-A7FB-DCBC42852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7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9A49-71F7-435F-9314-0C8BDD9C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9E810-5880-41C4-BCDD-22E27FACE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92479-219A-457A-8B4C-1CC85D5C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A0766-4138-4D2C-9388-ED376E78E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98E5E-5C41-4BFD-8BA6-CB8A55B02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2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0094-3271-414C-A4D4-E5F3EBA5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3C76F-3A46-44B2-914D-683137246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F2E58-92E2-4DD7-966B-964CAB8FD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32664-A1DB-49FA-9B4D-5D8FC186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A059C-E3D2-4C34-A2D3-E995397D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48D97-6245-4ED6-B423-31A0A1082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3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D53B-411A-41B3-88DC-A6875F3F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45556-73D9-4462-8210-94E599731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48F31-618F-4C0E-B227-AAA2CC497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0F5BD9-DFB2-4259-8E58-E2E462049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92D40-DA2C-4E31-BEDD-5623DD41B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14BD0-DE65-4509-87AC-E93C6526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2B2652-6A07-408C-A70F-B3DD580D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6D9E5-DCAF-4FBA-851E-0EFDE63D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27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36CA3-2570-40D6-9C09-BB00FDE3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61B20-47F7-4736-8214-8C7A667A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56177A-27D7-43EA-BB87-986BF9717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C02FD-62B3-410F-83C7-262BD46E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0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A49B3C-6F86-44B3-9AE5-54958EE5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584C0-97A6-4B5E-8F2A-E88FF174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3C5CF-D1F7-495E-A98D-C985064B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3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EE296-2ECB-4D47-BD9C-EA1993D8C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8D2AD-45D7-45DE-9ED0-6158808B6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AAD97-B67D-4169-8D65-7DCEFBF1B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898B0-9F96-45E8-BE39-8D505753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B4EF3-1563-4F56-9B66-06134C0F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E5E24-4098-4114-87BD-066DA322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6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388C-F827-459F-83EF-FD9458983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3E1D0-3DAB-44A2-9733-EB803BF577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2CDD7-1A52-4AF2-AEA0-1C4889C56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A8E09-A1E5-47D8-8EB2-2C72472A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BA2A8-5E27-40F1-960C-2F6FB6B1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C2FE6-9279-4BAB-82A5-538BABC4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2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0F48-FFD3-45A7-9B0B-9F362E93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A046E-3AFF-43EC-BC96-F18EDFD9F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9C611-1296-4D1D-8DFF-B06718EF9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A649D-FDF4-4B8C-8D05-39F15DD5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343C0-D94A-4367-A5C8-ADAABEFB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8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4E59C-48C5-410E-AC0C-385891F42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BFBBB-7F40-423E-9628-99C3E9CC5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5CC13-7695-45FC-A126-42FE1234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3DB07-08A0-4067-8A8F-6A3F5DEF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0AE3C-3536-4BB3-9B94-786B9B31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85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8D35E-9D78-424E-B232-2D365F05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15A2B-BDF9-41D5-A3B9-E297091C0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65D89-77E7-4691-886D-B2A9F6E33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480C0-B331-4F3C-97B1-730E198AF03F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D7C20-273D-4D23-A0A7-50BED5060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6AFBA-56C7-49BC-B2EA-8F8F7B96C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1EBB9-4E12-42B2-8E41-27EDA1E0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2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F713-941A-4454-81E3-0FDFFD4690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Computer Networks(CSE-302)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82B6E-CA4B-4E71-B20A-B18E2C08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Based Assessment Evaluation</a:t>
            </a:r>
          </a:p>
          <a:p>
            <a:endParaRPr lang="en-US" dirty="0"/>
          </a:p>
          <a:p>
            <a:r>
              <a:rPr lang="en-US" dirty="0"/>
              <a:t>Darshan Kumar</a:t>
            </a:r>
          </a:p>
          <a:p>
            <a:r>
              <a:rPr lang="en-US" dirty="0"/>
              <a:t>122003059</a:t>
            </a:r>
          </a:p>
          <a:p>
            <a:r>
              <a:rPr lang="en-US" dirty="0"/>
              <a:t>B Tech CSE-3</a:t>
            </a:r>
            <a:r>
              <a:rPr lang="en-US" baseline="30000" dirty="0"/>
              <a:t>rd</a:t>
            </a:r>
            <a:r>
              <a:rPr lang="en-US" dirty="0"/>
              <a:t> year</a:t>
            </a:r>
          </a:p>
        </p:txBody>
      </p:sp>
    </p:spTree>
    <p:extLst>
      <p:ext uri="{BB962C8B-B14F-4D97-AF65-F5344CB8AC3E}">
        <p14:creationId xmlns:p14="http://schemas.microsoft.com/office/powerpoint/2010/main" val="21369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2529-797A-4BEA-8845-DC15C33F5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05365"/>
          </a:xfrm>
        </p:spPr>
        <p:txBody>
          <a:bodyPr>
            <a:normAutofit/>
          </a:bodyPr>
          <a:lstStyle/>
          <a:p>
            <a:r>
              <a:rPr lang="en-US" b="1" dirty="0"/>
              <a:t>Problem statement: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Design and Implementation of GBN &amp; SR -Transport Layer protocols ,using a GUI model, their comparison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34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64D2F-431C-4873-A809-26A237C80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“Reliable Data Transfer?”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CCFED-27CB-411F-AC58-EF053CA15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Includes the following: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Guarantee on delivery of each segment(using feedback-ACK,NACK)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Guarantee on orderly delivery of segments(using sequence </a:t>
            </a:r>
            <a:r>
              <a:rPr lang="en-US" dirty="0" err="1"/>
              <a:t>nos</a:t>
            </a:r>
            <a:r>
              <a:rPr lang="en-US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Guarantee on integrity of data, in each segment(using CHECKSUM)</a:t>
            </a:r>
          </a:p>
          <a:p>
            <a:pPr marL="0" indent="0">
              <a:buNone/>
            </a:pPr>
            <a:r>
              <a:rPr lang="en-US" dirty="0"/>
              <a:t>(integrity refers to “no error ” in data in segments)</a:t>
            </a:r>
          </a:p>
        </p:txBody>
      </p:sp>
    </p:spTree>
    <p:extLst>
      <p:ext uri="{BB962C8B-B14F-4D97-AF65-F5344CB8AC3E}">
        <p14:creationId xmlns:p14="http://schemas.microsoft.com/office/powerpoint/2010/main" val="166887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04EE-4341-433C-A89B-05F77621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Reliable Data Transfer Mechanisms: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96763-3DD0-46E0-BF49-9108932E4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Checksum</a:t>
            </a:r>
            <a:r>
              <a:rPr lang="en-US" sz="2400" dirty="0"/>
              <a:t>- used to detect errors, within data bits</a:t>
            </a:r>
          </a:p>
          <a:p>
            <a:r>
              <a:rPr lang="en-US" sz="2400" b="1" dirty="0"/>
              <a:t>Timers</a:t>
            </a:r>
            <a:r>
              <a:rPr lang="en-US" sz="2400" dirty="0"/>
              <a:t>- to deal with (overly delayed)/lost packets or ACK</a:t>
            </a:r>
          </a:p>
          <a:p>
            <a:r>
              <a:rPr lang="en-US" sz="2400" b="1" dirty="0"/>
              <a:t>Sequence Numbers</a:t>
            </a:r>
            <a:r>
              <a:rPr lang="en-US" sz="2400" dirty="0"/>
              <a:t>-to maintain ORDER in data segments, and to identify a re-transmission(duplicate packets)</a:t>
            </a:r>
          </a:p>
          <a:p>
            <a:r>
              <a:rPr lang="en-US" sz="2400" b="1" dirty="0"/>
              <a:t>ACK</a:t>
            </a:r>
            <a:r>
              <a:rPr lang="en-US" sz="2400" dirty="0"/>
              <a:t>- as feedback for correctly received packet</a:t>
            </a:r>
          </a:p>
          <a:p>
            <a:r>
              <a:rPr lang="en-US" sz="2400" b="1" dirty="0"/>
              <a:t>NACK</a:t>
            </a:r>
            <a:r>
              <a:rPr lang="en-US" sz="2400" dirty="0"/>
              <a:t>- as feedback for </a:t>
            </a:r>
            <a:r>
              <a:rPr lang="en-US" sz="2400" b="1" dirty="0"/>
              <a:t>corrupt</a:t>
            </a:r>
            <a:r>
              <a:rPr lang="en-US" sz="2400" dirty="0"/>
              <a:t> packet</a:t>
            </a:r>
          </a:p>
          <a:p>
            <a:r>
              <a:rPr lang="en-US" sz="2400" b="1" dirty="0"/>
              <a:t>Pipelining</a:t>
            </a:r>
            <a:r>
              <a:rPr lang="en-US" sz="2400" dirty="0"/>
              <a:t>(having 1&lt;=window size&lt;=N)- to utilize bandwidth</a:t>
            </a:r>
          </a:p>
          <a:p>
            <a:pPr marL="0" indent="0">
              <a:buNone/>
            </a:pPr>
            <a:r>
              <a:rPr lang="en-US" sz="2400" dirty="0"/>
              <a:t>  (how pipelining is beneficial ,compared to “stop and wait”!!)</a:t>
            </a:r>
          </a:p>
        </p:txBody>
      </p:sp>
    </p:spTree>
    <p:extLst>
      <p:ext uri="{BB962C8B-B14F-4D97-AF65-F5344CB8AC3E}">
        <p14:creationId xmlns:p14="http://schemas.microsoft.com/office/powerpoint/2010/main" val="244611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8BBA-A218-4661-B7C2-D218A3BC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5894007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7200" dirty="0"/>
            </a:br>
            <a:br>
              <a:rPr lang="en-US" sz="7200" dirty="0"/>
            </a:br>
            <a:r>
              <a:rPr lang="en-US" sz="7200" dirty="0"/>
              <a:t>GBN-Protocol</a:t>
            </a:r>
            <a:br>
              <a:rPr lang="en-US" sz="7200" dirty="0"/>
            </a:br>
            <a:br>
              <a:rPr lang="en-US" sz="7200" dirty="0"/>
            </a:br>
            <a:br>
              <a:rPr lang="en-US" sz="7200" dirty="0"/>
            </a:b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825305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6A21-4A46-4ADA-A396-4AD18E3AC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Sender side: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C1027-279A-41F2-9CAD-08075B5A1EC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6676" y="1455313"/>
            <a:ext cx="9465972" cy="47216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9052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3620-4AEF-4CDD-8004-6DEE8FDF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Receiver side: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F76817-95F1-453C-96A8-DD41565B07E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3036" y="1803043"/>
            <a:ext cx="10290219" cy="43144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9265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4A2C-EC12-4E68-BE02-25BC1A705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425"/>
            <a:ext cx="10515600" cy="721217"/>
          </a:xfrm>
        </p:spPr>
        <p:txBody>
          <a:bodyPr/>
          <a:lstStyle/>
          <a:p>
            <a:r>
              <a:rPr lang="en-US" dirty="0"/>
              <a:t>Explaining the GUI of my app(GBN):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0F6AF4A-B000-4C48-827F-FD19C7866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4128" b="25637"/>
          <a:stretch/>
        </p:blipFill>
        <p:spPr>
          <a:xfrm>
            <a:off x="551645" y="888642"/>
            <a:ext cx="11088710" cy="5604233"/>
          </a:xfrm>
        </p:spPr>
      </p:pic>
    </p:spTree>
    <p:extLst>
      <p:ext uri="{BB962C8B-B14F-4D97-AF65-F5344CB8AC3E}">
        <p14:creationId xmlns:p14="http://schemas.microsoft.com/office/powerpoint/2010/main" val="3904862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B49B-9D5E-41C4-BED4-DC1C8435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00824"/>
          </a:xfrm>
        </p:spPr>
        <p:txBody>
          <a:bodyPr/>
          <a:lstStyle/>
          <a:p>
            <a:r>
              <a:rPr lang="en-US" dirty="0"/>
              <a:t>		</a:t>
            </a:r>
            <a:r>
              <a:rPr lang="en-US" sz="4800" dirty="0"/>
              <a:t>Application Demo- for GBN</a:t>
            </a:r>
            <a:br>
              <a:rPr lang="en-US" sz="4800" dirty="0"/>
            </a:br>
            <a:br>
              <a:rPr lang="en-US" sz="4800" dirty="0"/>
            </a:br>
            <a:r>
              <a:rPr lang="en-US" sz="2800" dirty="0"/>
              <a:t>Highlights:</a:t>
            </a:r>
            <a:br>
              <a:rPr lang="en-US" sz="2800" dirty="0"/>
            </a:br>
            <a:r>
              <a:rPr lang="en-US" sz="2800" dirty="0"/>
              <a:t>1) cumulative ACK</a:t>
            </a:r>
            <a:br>
              <a:rPr lang="en-US" sz="2800" dirty="0"/>
            </a:br>
            <a:r>
              <a:rPr lang="en-US" sz="2800" dirty="0"/>
              <a:t>2)single logical timer</a:t>
            </a:r>
            <a:br>
              <a:rPr lang="en-US" sz="2800" dirty="0"/>
            </a:br>
            <a:r>
              <a:rPr lang="en-US" sz="2800" dirty="0"/>
              <a:t>3) receiver side window size=1</a:t>
            </a:r>
          </a:p>
        </p:txBody>
      </p:sp>
    </p:spTree>
    <p:extLst>
      <p:ext uri="{BB962C8B-B14F-4D97-AF65-F5344CB8AC3E}">
        <p14:creationId xmlns:p14="http://schemas.microsoft.com/office/powerpoint/2010/main" val="358640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E1550-58A2-4A2D-A904-4286BD095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Possible ambiguity with “window size”!!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C03DA60-9282-4D2F-9461-9C07D192D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217" y="1690688"/>
            <a:ext cx="10766737" cy="469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61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88908-8BF0-42F1-B131-FBB93913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5523"/>
          </a:xfrm>
        </p:spPr>
        <p:txBody>
          <a:bodyPr/>
          <a:lstStyle/>
          <a:p>
            <a:r>
              <a:rPr lang="en-US" dirty="0"/>
              <a:t>		</a:t>
            </a:r>
            <a:r>
              <a:rPr lang="en-US" sz="4800" dirty="0"/>
              <a:t>Selective repeat Protocol</a:t>
            </a:r>
          </a:p>
        </p:txBody>
      </p:sp>
    </p:spTree>
    <p:extLst>
      <p:ext uri="{BB962C8B-B14F-4D97-AF65-F5344CB8AC3E}">
        <p14:creationId xmlns:p14="http://schemas.microsoft.com/office/powerpoint/2010/main" val="2169085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381F4-68DF-4377-8B76-32769247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Sender side algorithm: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281F6-5E3C-44AF-8455-580B17A5D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lvl="0"/>
            <a:r>
              <a:rPr lang="en-US" sz="2200" dirty="0">
                <a:solidFill>
                  <a:srgbClr val="FF0000"/>
                </a:solidFill>
              </a:rPr>
              <a:t>When the upper layer calls for sending data, it is checked ,If a </a:t>
            </a:r>
            <a:r>
              <a:rPr lang="en-US" sz="2200" b="1" dirty="0">
                <a:solidFill>
                  <a:srgbClr val="FF0000"/>
                </a:solidFill>
              </a:rPr>
              <a:t>unused sequence </a:t>
            </a:r>
            <a:r>
              <a:rPr lang="en-US" sz="2200" dirty="0">
                <a:solidFill>
                  <a:srgbClr val="FF0000"/>
                </a:solidFill>
              </a:rPr>
              <a:t>number is available, </a:t>
            </a:r>
            <a:r>
              <a:rPr lang="en-US" sz="2200" b="1" u="sng" dirty="0">
                <a:solidFill>
                  <a:srgbClr val="FF0000"/>
                </a:solidFill>
              </a:rPr>
              <a:t>within window </a:t>
            </a:r>
            <a:r>
              <a:rPr lang="en-US" sz="2200" dirty="0">
                <a:solidFill>
                  <a:srgbClr val="FF0000"/>
                </a:solidFill>
              </a:rPr>
              <a:t>, if it is available, the data is made into a packet, required headers are added and sent. Otherwise it is buffered.</a:t>
            </a:r>
          </a:p>
          <a:p>
            <a:pPr marL="0" lvl="0" indent="0">
              <a:buNone/>
            </a:pPr>
            <a:endParaRPr lang="en-US" sz="2200" dirty="0">
              <a:solidFill>
                <a:srgbClr val="FF0000"/>
              </a:solidFill>
            </a:endParaRPr>
          </a:p>
          <a:p>
            <a:pPr lvl="0"/>
            <a:r>
              <a:rPr lang="en-US" sz="2200" b="1" dirty="0">
                <a:solidFill>
                  <a:srgbClr val="FF0000"/>
                </a:solidFill>
              </a:rPr>
              <a:t>TIMEOUT EVENT</a:t>
            </a:r>
            <a:r>
              <a:rPr lang="en-US" sz="2200" dirty="0">
                <a:solidFill>
                  <a:srgbClr val="FF0000"/>
                </a:solidFill>
              </a:rPr>
              <a:t>: it is designed to protect against </a:t>
            </a:r>
            <a:r>
              <a:rPr lang="en-US" sz="2200" b="1" dirty="0">
                <a:solidFill>
                  <a:srgbClr val="FF0000"/>
                </a:solidFill>
              </a:rPr>
              <a:t>overly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</a:rPr>
              <a:t>delayed/ lost packets </a:t>
            </a:r>
            <a:r>
              <a:rPr lang="en-US" sz="2200" dirty="0">
                <a:solidFill>
                  <a:srgbClr val="FF0000"/>
                </a:solidFill>
              </a:rPr>
              <a:t>.Unlike GBN, each packet in SR has a logical timer, and timeout of a particular timer, results in RESENDING the packet, corresponding to that timer. The timer is started/stopped/restarted based upon packet getting sent/ACK received/resent .</a:t>
            </a:r>
          </a:p>
          <a:p>
            <a:pPr marL="0" lvl="0" indent="0">
              <a:buNone/>
            </a:pPr>
            <a:endParaRPr lang="en-US" sz="2200" dirty="0">
              <a:solidFill>
                <a:srgbClr val="FF0000"/>
              </a:solidFill>
            </a:endParaRPr>
          </a:p>
          <a:p>
            <a:pPr lvl="0"/>
            <a:r>
              <a:rPr lang="en-US" sz="2200" b="1" dirty="0">
                <a:solidFill>
                  <a:srgbClr val="FF0000"/>
                </a:solidFill>
              </a:rPr>
              <a:t>ACK RECEIVED</a:t>
            </a:r>
            <a:r>
              <a:rPr lang="en-US" sz="2200" dirty="0">
                <a:solidFill>
                  <a:srgbClr val="FF0000"/>
                </a:solidFill>
              </a:rPr>
              <a:t>: if the ACK is for the base packet of window, the window is then </a:t>
            </a:r>
            <a:r>
              <a:rPr lang="en-US" sz="2200" dirty="0" err="1">
                <a:solidFill>
                  <a:srgbClr val="FF0000"/>
                </a:solidFill>
              </a:rPr>
              <a:t>slided</a:t>
            </a:r>
            <a:r>
              <a:rPr lang="en-US" sz="2200" dirty="0">
                <a:solidFill>
                  <a:srgbClr val="FF0000"/>
                </a:solidFill>
              </a:rPr>
              <a:t>, such that the new base now is the </a:t>
            </a:r>
            <a:r>
              <a:rPr lang="en-US" sz="2200" b="1" dirty="0">
                <a:solidFill>
                  <a:srgbClr val="FF0000"/>
                </a:solidFill>
              </a:rPr>
              <a:t>nearest unacknowledged packet</a:t>
            </a:r>
            <a:r>
              <a:rPr lang="en-US" sz="2200" dirty="0">
                <a:solidFill>
                  <a:srgbClr val="FF0000"/>
                </a:solidFill>
              </a:rPr>
              <a:t>, to the previous base. </a:t>
            </a:r>
            <a:r>
              <a:rPr lang="en-US" sz="2200" b="1" dirty="0">
                <a:solidFill>
                  <a:srgbClr val="FF0000"/>
                </a:solidFill>
              </a:rPr>
              <a:t>New sequence numbers, which are now inside window</a:t>
            </a:r>
            <a:r>
              <a:rPr lang="en-US" sz="2200" dirty="0">
                <a:solidFill>
                  <a:srgbClr val="FF0000"/>
                </a:solidFill>
              </a:rPr>
              <a:t>, now can be utilized to send a packet, on demand, instantaneously.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475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35F3-6BB2-497A-8A7E-5AF74EDE7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Receiver side algorithm: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05BF-0C24-4D8F-9C65-63A4A920F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200" dirty="0">
                <a:solidFill>
                  <a:srgbClr val="FF0000"/>
                </a:solidFill>
              </a:rPr>
              <a:t>Any packet with sequence number in </a:t>
            </a:r>
            <a:r>
              <a:rPr lang="en-US" sz="2200" b="1" dirty="0">
                <a:solidFill>
                  <a:srgbClr val="FF0000"/>
                </a:solidFill>
              </a:rPr>
              <a:t>Range: [base,base+N-1] </a:t>
            </a:r>
            <a:r>
              <a:rPr lang="en-US" sz="2200" dirty="0">
                <a:solidFill>
                  <a:srgbClr val="FF0000"/>
                </a:solidFill>
              </a:rPr>
              <a:t>are correctly received .And a ACK is sent for that sequence number. If the packet is in the above range, but not in correct order, than ,they need to be </a:t>
            </a:r>
            <a:r>
              <a:rPr lang="en-US" sz="2200" b="1" dirty="0">
                <a:solidFill>
                  <a:srgbClr val="FF0000"/>
                </a:solidFill>
              </a:rPr>
              <a:t>buffered</a:t>
            </a:r>
            <a:r>
              <a:rPr lang="en-US" sz="2200" dirty="0">
                <a:solidFill>
                  <a:srgbClr val="FF0000"/>
                </a:solidFill>
              </a:rPr>
              <a:t>. When a packet ,with </a:t>
            </a:r>
            <a:r>
              <a:rPr lang="en-US" sz="2200" b="1" dirty="0">
                <a:solidFill>
                  <a:srgbClr val="FF0000"/>
                </a:solidFill>
              </a:rPr>
              <a:t>sequence number=base</a:t>
            </a:r>
            <a:r>
              <a:rPr lang="en-US" sz="2200" dirty="0">
                <a:solidFill>
                  <a:srgbClr val="FF0000"/>
                </a:solidFill>
              </a:rPr>
              <a:t> of receiver, arrives, then this packet, and previously buffered consecutive packets are together delivered, to its upper layer.( and window is </a:t>
            </a:r>
            <a:r>
              <a:rPr lang="en-US" sz="2200" dirty="0" err="1">
                <a:solidFill>
                  <a:srgbClr val="FF0000"/>
                </a:solidFill>
              </a:rPr>
              <a:t>slided</a:t>
            </a:r>
            <a:r>
              <a:rPr lang="en-US" sz="2200" dirty="0">
                <a:solidFill>
                  <a:srgbClr val="FF0000"/>
                </a:solidFill>
              </a:rPr>
              <a:t>, similar to sender side case).</a:t>
            </a:r>
          </a:p>
          <a:p>
            <a:pPr marL="0" lvl="0" indent="0">
              <a:buNone/>
            </a:pPr>
            <a:endParaRPr lang="en-US" sz="2200" dirty="0">
              <a:solidFill>
                <a:srgbClr val="FF0000"/>
              </a:solidFill>
            </a:endParaRPr>
          </a:p>
          <a:p>
            <a:pPr lvl="0"/>
            <a:r>
              <a:rPr lang="en-US" sz="2200" dirty="0">
                <a:solidFill>
                  <a:srgbClr val="FF0000"/>
                </a:solidFill>
              </a:rPr>
              <a:t>For packets with sequence number in range : [0, base-1] ,</a:t>
            </a:r>
            <a:r>
              <a:rPr lang="en-US" sz="2200" b="1" dirty="0">
                <a:solidFill>
                  <a:srgbClr val="FF0000"/>
                </a:solidFill>
              </a:rPr>
              <a:t>a DUPLICATE ACK</a:t>
            </a:r>
            <a:r>
              <a:rPr lang="en-US" sz="2200" dirty="0">
                <a:solidFill>
                  <a:srgbClr val="FF0000"/>
                </a:solidFill>
              </a:rPr>
              <a:t> (as receiver has already acknowledged this packet) is sent.</a:t>
            </a:r>
          </a:p>
          <a:p>
            <a:pPr marL="0" lvl="0" indent="0">
              <a:buNone/>
            </a:pPr>
            <a:endParaRPr lang="en-US" sz="2200" dirty="0">
              <a:solidFill>
                <a:srgbClr val="FF0000"/>
              </a:solidFill>
            </a:endParaRPr>
          </a:p>
          <a:p>
            <a:pPr lvl="0"/>
            <a:r>
              <a:rPr lang="en-US" sz="2200" dirty="0">
                <a:solidFill>
                  <a:srgbClr val="FF0000"/>
                </a:solidFill>
              </a:rPr>
              <a:t>In all other cases, received  packet is </a:t>
            </a:r>
            <a:r>
              <a:rPr lang="en-US" sz="2200" b="1" dirty="0">
                <a:solidFill>
                  <a:srgbClr val="FF0000"/>
                </a:solidFill>
              </a:rPr>
              <a:t>discarded</a:t>
            </a:r>
            <a:r>
              <a:rPr lang="en-US" sz="2200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722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ECE1-6A4C-4B05-9557-51F0BC1F5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3974"/>
          </a:xfrm>
        </p:spPr>
        <p:txBody>
          <a:bodyPr/>
          <a:lstStyle/>
          <a:p>
            <a:r>
              <a:rPr lang="en-US" dirty="0"/>
              <a:t>Explaining GUI of my app(SR):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3C8D96-06D0-4DF6-B7D1-7DC8F90CD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3332" b="23369"/>
          <a:stretch/>
        </p:blipFill>
        <p:spPr>
          <a:xfrm>
            <a:off x="592428" y="1056068"/>
            <a:ext cx="11037195" cy="5436807"/>
          </a:xfrm>
        </p:spPr>
      </p:pic>
    </p:spTree>
    <p:extLst>
      <p:ext uri="{BB962C8B-B14F-4D97-AF65-F5344CB8AC3E}">
        <p14:creationId xmlns:p14="http://schemas.microsoft.com/office/powerpoint/2010/main" val="2826646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B49B-9D5E-41C4-BED4-DC1C8435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00824"/>
          </a:xfrm>
        </p:spPr>
        <p:txBody>
          <a:bodyPr/>
          <a:lstStyle/>
          <a:p>
            <a:r>
              <a:rPr lang="en-US" dirty="0"/>
              <a:t>		</a:t>
            </a:r>
            <a:r>
              <a:rPr lang="en-US" sz="4800" dirty="0"/>
              <a:t>Application Demo- for SR</a:t>
            </a:r>
            <a:br>
              <a:rPr lang="en-US" sz="4800" dirty="0"/>
            </a:br>
            <a:br>
              <a:rPr lang="en-US" sz="4800" dirty="0"/>
            </a:br>
            <a:r>
              <a:rPr lang="en-US" sz="2400" dirty="0"/>
              <a:t>Highlights:</a:t>
            </a:r>
            <a:br>
              <a:rPr lang="en-US" sz="2400" dirty="0"/>
            </a:br>
            <a:r>
              <a:rPr lang="en-US" sz="2400" dirty="0"/>
              <a:t>1) duplicate ACK</a:t>
            </a:r>
            <a:br>
              <a:rPr lang="en-US" sz="2400" dirty="0"/>
            </a:br>
            <a:r>
              <a:rPr lang="en-US" sz="2400" dirty="0"/>
              <a:t>2)individual timer, for each sent packet</a:t>
            </a:r>
            <a:br>
              <a:rPr lang="en-US" sz="2400" dirty="0"/>
            </a:br>
            <a:r>
              <a:rPr lang="en-US" sz="2400" dirty="0"/>
              <a:t>3) receiver side window size=sender window size</a:t>
            </a:r>
            <a:br>
              <a:rPr lang="en-US" sz="2400" dirty="0"/>
            </a:br>
            <a:r>
              <a:rPr lang="en-US" sz="2400" dirty="0"/>
              <a:t>4) use of buffer on receiver side</a:t>
            </a:r>
          </a:p>
        </p:txBody>
      </p:sp>
    </p:spTree>
    <p:extLst>
      <p:ext uri="{BB962C8B-B14F-4D97-AF65-F5344CB8AC3E}">
        <p14:creationId xmlns:p14="http://schemas.microsoft.com/office/powerpoint/2010/main" val="2242836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E1550-58A2-4A2D-A904-4286BD095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Possible ambiguity with “window size”!!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45FE6E-DBE6-49DC-B9B4-03044C11B2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1" y="1690689"/>
            <a:ext cx="10971726" cy="480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43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F5E6-5F4C-4E78-96DC-6E48DB02E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Points of difference between the protocols</a:t>
            </a:r>
            <a:br>
              <a:rPr lang="en-US" dirty="0"/>
            </a:br>
            <a:br>
              <a:rPr lang="en-US" dirty="0"/>
            </a:br>
            <a:r>
              <a:rPr lang="en-US" sz="2800" b="1" u="sng" dirty="0"/>
              <a:t>Disadvantages of GBN: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08447-9D64-4D78-895B-CD504465B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4861"/>
            <a:ext cx="10515600" cy="4142101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sz="2600" dirty="0"/>
              <a:t>A single </a:t>
            </a:r>
            <a:r>
              <a:rPr lang="en-US" sz="2600" b="1" dirty="0"/>
              <a:t>error, in the 1</a:t>
            </a:r>
            <a:r>
              <a:rPr lang="en-US" sz="2600" b="1" baseline="30000" dirty="0"/>
              <a:t>st</a:t>
            </a:r>
            <a:r>
              <a:rPr lang="en-US" sz="2600" b="1" dirty="0"/>
              <a:t> packet</a:t>
            </a:r>
            <a:r>
              <a:rPr lang="en-US" sz="2600" dirty="0"/>
              <a:t>, will make the rest of the successive packets ,transmitted as waste. And will lead to RE-TRANSMISSION, which obviously can be avoided.</a:t>
            </a:r>
          </a:p>
          <a:p>
            <a:pPr lvl="0"/>
            <a:r>
              <a:rPr lang="en-US" sz="2600" dirty="0"/>
              <a:t>When window size is large, and there is high congestion in network, the probability of 1</a:t>
            </a:r>
            <a:r>
              <a:rPr lang="en-US" sz="2600" baseline="30000" dirty="0"/>
              <a:t>st</a:t>
            </a:r>
            <a:r>
              <a:rPr lang="en-US" sz="2600" dirty="0"/>
              <a:t> packet of a retransmission getting dropped ,by a intermediate router is </a:t>
            </a:r>
            <a:r>
              <a:rPr lang="en-US" sz="2600" b="1" dirty="0"/>
              <a:t>high.</a:t>
            </a:r>
            <a:r>
              <a:rPr lang="en-US" sz="2600" dirty="0"/>
              <a:t> This adds to ,number of retransmissions, in a </a:t>
            </a:r>
            <a:r>
              <a:rPr lang="en-US" sz="2600" b="1" dirty="0"/>
              <a:t>already congested channel.</a:t>
            </a:r>
            <a:endParaRPr lang="en-US" sz="2600" dirty="0"/>
          </a:p>
          <a:p>
            <a:pPr lvl="0"/>
            <a:r>
              <a:rPr lang="en-US" sz="2600" dirty="0"/>
              <a:t>The window size of 1 in receiver side, and </a:t>
            </a:r>
            <a:r>
              <a:rPr lang="en-US" sz="2600" b="1" dirty="0"/>
              <a:t>large window size, on sender side</a:t>
            </a:r>
            <a:r>
              <a:rPr lang="en-US" sz="2600" dirty="0"/>
              <a:t>, perform extremely bad, in a congested network (where changes of a packet, getting dropped is high).</a:t>
            </a:r>
          </a:p>
          <a:p>
            <a:pPr lvl="0"/>
            <a:r>
              <a:rPr lang="en-US" sz="2600" dirty="0"/>
              <a:t>It does not utilize the benefit of </a:t>
            </a:r>
            <a:r>
              <a:rPr lang="en-US" sz="2600" b="1" dirty="0"/>
              <a:t>buffers, </a:t>
            </a:r>
            <a:r>
              <a:rPr lang="en-US" sz="2600" dirty="0"/>
              <a:t>that can be added to both hosts, which will </a:t>
            </a:r>
            <a:r>
              <a:rPr lang="en-US" sz="2600" b="1" dirty="0"/>
              <a:t>reduce</a:t>
            </a:r>
            <a:r>
              <a:rPr lang="en-US" sz="2600" dirty="0"/>
              <a:t>, the </a:t>
            </a:r>
            <a:r>
              <a:rPr lang="en-US" sz="2600" b="1" dirty="0"/>
              <a:t>discarding </a:t>
            </a:r>
            <a:r>
              <a:rPr lang="en-US" sz="2600" dirty="0"/>
              <a:t> of ,</a:t>
            </a:r>
            <a:r>
              <a:rPr lang="en-US" sz="2600" b="1" dirty="0"/>
              <a:t>rightly</a:t>
            </a:r>
            <a:r>
              <a:rPr lang="en-US" sz="2600" dirty="0"/>
              <a:t> received packets(which were received out of </a:t>
            </a:r>
            <a:r>
              <a:rPr lang="en-US" sz="2600" b="1" dirty="0"/>
              <a:t>sequence</a:t>
            </a:r>
            <a:r>
              <a:rPr lang="en-US" sz="2600" dirty="0"/>
              <a:t>).</a:t>
            </a:r>
          </a:p>
          <a:p>
            <a:pPr lvl="0"/>
            <a:r>
              <a:rPr lang="en-US" sz="2600" dirty="0"/>
              <a:t>With buffers being introduced, the </a:t>
            </a:r>
            <a:r>
              <a:rPr lang="en-US" sz="2600" b="1" dirty="0"/>
              <a:t>receiver</a:t>
            </a:r>
            <a:r>
              <a:rPr lang="en-US" sz="2600" dirty="0"/>
              <a:t>, no longer needs to </a:t>
            </a:r>
            <a:r>
              <a:rPr lang="en-US" sz="2600" b="1" dirty="0"/>
              <a:t>limit</a:t>
            </a:r>
            <a:r>
              <a:rPr lang="en-US" sz="2600" dirty="0"/>
              <a:t> its window size to 1.</a:t>
            </a:r>
          </a:p>
          <a:p>
            <a:pPr lvl="0"/>
            <a:r>
              <a:rPr lang="en-US" sz="2600" dirty="0">
                <a:solidFill>
                  <a:srgbClr val="FF0000"/>
                </a:solidFill>
              </a:rPr>
              <a:t>ALL THESE IDEAS, ARE INCOPERATED IN </a:t>
            </a:r>
            <a:r>
              <a:rPr lang="en-US" sz="2600" b="1" dirty="0">
                <a:solidFill>
                  <a:srgbClr val="FF0000"/>
                </a:solidFill>
              </a:rPr>
              <a:t>SR PROTOCOL.</a:t>
            </a:r>
            <a:endParaRPr lang="en-US" sz="26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716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A737-CFA2-4A32-A6D4-A5E7AF0CB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/>
              <a:t>DISADVANTAGES OF SR PROTOCOL: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AE426-15B3-4C47-8ECC-4CA62708E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797"/>
            <a:ext cx="10515600" cy="4773166"/>
          </a:xfrm>
        </p:spPr>
        <p:txBody>
          <a:bodyPr/>
          <a:lstStyle/>
          <a:p>
            <a:pPr lvl="0"/>
            <a:r>
              <a:rPr lang="en-US" sz="2400" b="1" dirty="0"/>
              <a:t>Hardware limitations, </a:t>
            </a:r>
            <a:r>
              <a:rPr lang="en-US" sz="2400" dirty="0"/>
              <a:t>play a big role in deciding the </a:t>
            </a:r>
            <a:r>
              <a:rPr lang="en-US" sz="2400" b="1" dirty="0"/>
              <a:t>window size</a:t>
            </a:r>
            <a:r>
              <a:rPr lang="en-US" sz="2400" dirty="0"/>
              <a:t>, as each sequence number, within the sender side window, </a:t>
            </a:r>
            <a:r>
              <a:rPr lang="en-US" sz="2400" b="1" dirty="0"/>
              <a:t>needs to be allotted a timer,</a:t>
            </a:r>
            <a:r>
              <a:rPr lang="en-US" sz="2400" dirty="0"/>
              <a:t> which must be capable of running simultaneously.(all N timers, running simultaneously).</a:t>
            </a:r>
          </a:p>
          <a:p>
            <a:pPr lvl="0"/>
            <a:r>
              <a:rPr lang="en-US" sz="2400" b="1" dirty="0"/>
              <a:t>Hardware limitations, </a:t>
            </a:r>
            <a:r>
              <a:rPr lang="en-US" sz="2400" dirty="0"/>
              <a:t> in another form, will be the </a:t>
            </a:r>
            <a:r>
              <a:rPr lang="en-US" sz="2400" b="1" dirty="0"/>
              <a:t> amount of Buffer, available especially for the RECEIVER side, </a:t>
            </a:r>
            <a:r>
              <a:rPr lang="en-US" sz="2400" dirty="0"/>
              <a:t>this factor will limit the window size.</a:t>
            </a:r>
          </a:p>
          <a:p>
            <a:pPr lvl="0"/>
            <a:r>
              <a:rPr lang="en-US" sz="2400" dirty="0"/>
              <a:t>C</a:t>
            </a:r>
            <a:r>
              <a:rPr lang="en-US" sz="2400" b="1" dirty="0"/>
              <a:t>ongestion</a:t>
            </a:r>
            <a:r>
              <a:rPr lang="en-US" sz="2400" dirty="0"/>
              <a:t> in the channel, is another factor, based on which </a:t>
            </a:r>
            <a:r>
              <a:rPr lang="en-US" sz="2400" b="1" dirty="0"/>
              <a:t>, window size, should be determined</a:t>
            </a:r>
            <a:r>
              <a:rPr lang="en-US" sz="2400" dirty="0"/>
              <a:t>. But Congestion changes with time, thus </a:t>
            </a:r>
            <a:r>
              <a:rPr lang="en-US" sz="2400" b="1" dirty="0"/>
              <a:t>is un-predictable.</a:t>
            </a:r>
          </a:p>
          <a:p>
            <a:pPr lvl="0"/>
            <a:r>
              <a:rPr lang="en-US" sz="2400" b="1" dirty="0"/>
              <a:t>Flow Control </a:t>
            </a:r>
            <a:r>
              <a:rPr lang="en-US" sz="2400" dirty="0"/>
              <a:t>is needed, to prevent overflow of receiver side Buffer.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944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1695-3DB1-4220-82D0-CDB05AD1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topics: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D27A8-9AFE-4793-AF6B-279FC4F89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1254"/>
            <a:ext cx="10515600" cy="4675709"/>
          </a:xfrm>
        </p:spPr>
        <p:txBody>
          <a:bodyPr/>
          <a:lstStyle/>
          <a:p>
            <a:pPr lvl="0"/>
            <a:r>
              <a:rPr lang="en-US" dirty="0"/>
              <a:t>In IPv4: it is TIME TO LIVE(TTL), field</a:t>
            </a:r>
          </a:p>
          <a:p>
            <a:pPr lvl="0"/>
            <a:r>
              <a:rPr lang="en-US" dirty="0"/>
              <a:t>In IPv6: it is HOP LIMIT field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Flow control</a:t>
            </a:r>
          </a:p>
          <a:p>
            <a:endParaRPr lang="en-US" dirty="0"/>
          </a:p>
          <a:p>
            <a:r>
              <a:rPr lang="en-US" dirty="0"/>
              <a:t>Congestion control(imp </a:t>
            </a:r>
            <a:r>
              <a:rPr lang="en-US" dirty="0" err="1"/>
              <a:t>phases:slow</a:t>
            </a:r>
            <a:r>
              <a:rPr lang="en-US" dirty="0"/>
              <a:t> start ,congestion avoidance)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Need of “reliable data transfer” in both “transport”, ”Link ” Layers</a:t>
            </a:r>
          </a:p>
        </p:txBody>
      </p:sp>
    </p:spTree>
    <p:extLst>
      <p:ext uri="{BB962C8B-B14F-4D97-AF65-F5344CB8AC3E}">
        <p14:creationId xmlns:p14="http://schemas.microsoft.com/office/powerpoint/2010/main" val="2008020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EA278-FBCE-4749-9DB7-B8488A259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30368"/>
          </a:xfrm>
        </p:spPr>
        <p:txBody>
          <a:bodyPr/>
          <a:lstStyle/>
          <a:p>
            <a:r>
              <a:rPr lang="en-US" dirty="0"/>
              <a:t>				THANK YOU</a:t>
            </a:r>
          </a:p>
        </p:txBody>
      </p:sp>
    </p:spTree>
    <p:extLst>
      <p:ext uri="{BB962C8B-B14F-4D97-AF65-F5344CB8AC3E}">
        <p14:creationId xmlns:p14="http://schemas.microsoft.com/office/powerpoint/2010/main" val="320010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0C76-E06D-41BD-A9C8-FDB3929A0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strong topics for viva: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5F250-B774-44CD-8C74-91C7AD5A9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unit-1 full (especially dns, http, smtp)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Unit 2: TCP vs UDP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Unit 3: routing algorithms(especially OSPF, BGP)</a:t>
            </a:r>
          </a:p>
          <a:p>
            <a:endParaRPr lang="en-US" dirty="0"/>
          </a:p>
          <a:p>
            <a:r>
              <a:rPr lang="en-US" dirty="0"/>
              <a:t>Unit 4: DHCP ,error detection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344720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1046</Words>
  <Application>Microsoft Office PowerPoint</Application>
  <PresentationFormat>Widescreen</PresentationFormat>
  <Paragraphs>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Theme</vt:lpstr>
      <vt:lpstr>Computer Networks(CSE-302)</vt:lpstr>
      <vt:lpstr>Problem statement:  Design and Implementation of GBN &amp; SR -Transport Layer protocols ,using a GUI model, their comparison </vt:lpstr>
      <vt:lpstr>What is “Reliable Data Transfer?”</vt:lpstr>
      <vt:lpstr>Summary of Reliable Data Transfer Mechanisms:</vt:lpstr>
      <vt:lpstr>  GBN-Protocol   </vt:lpstr>
      <vt:lpstr>Sender side:</vt:lpstr>
      <vt:lpstr>Receiver side:</vt:lpstr>
      <vt:lpstr>Explaining the GUI of my app(GBN):</vt:lpstr>
      <vt:lpstr>  Application Demo- for GBN  Highlights: 1) cumulative ACK 2)single logical timer 3) receiver side window size=1</vt:lpstr>
      <vt:lpstr>A Possible ambiguity with “window size”!!</vt:lpstr>
      <vt:lpstr>  Selective repeat Protocol</vt:lpstr>
      <vt:lpstr>Sender side algorithm:</vt:lpstr>
      <vt:lpstr>Receiver side algorithm:</vt:lpstr>
      <vt:lpstr>Explaining GUI of my app(SR):</vt:lpstr>
      <vt:lpstr>  Application Demo- for SR  Highlights: 1) duplicate ACK 2)individual timer, for each sent packet 3) receiver side window size=sender window size 4) use of buffer on receiver side</vt:lpstr>
      <vt:lpstr>A Possible ambiguity with “window size”!!</vt:lpstr>
      <vt:lpstr>Points of difference between the protocols  Disadvantages of GBN:</vt:lpstr>
      <vt:lpstr>DISADVANTAGES OF SR PROTOCOL:</vt:lpstr>
      <vt:lpstr>Related topics:</vt:lpstr>
      <vt:lpstr>    THANK YOU</vt:lpstr>
      <vt:lpstr>My strong topics for viva: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Networks(CSE-302)</dc:title>
  <dc:creator>darshan K</dc:creator>
  <cp:lastModifiedBy>darshan K</cp:lastModifiedBy>
  <cp:revision>22</cp:revision>
  <dcterms:created xsi:type="dcterms:W3CDTF">2021-02-16T13:17:43Z</dcterms:created>
  <dcterms:modified xsi:type="dcterms:W3CDTF">2021-02-17T07:23:32Z</dcterms:modified>
</cp:coreProperties>
</file>